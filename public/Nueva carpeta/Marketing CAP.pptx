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63" r:id="rId7"/>
    <p:sldId id="260" r:id="rId8"/>
    <p:sldId id="259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7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7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6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5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7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8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0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2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A252A-B275-4189-8B7A-7E8A899EB8F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08B7A-E12A-468B-B779-10B9033B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7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10" Type="http://schemas.microsoft.com/office/2007/relationships/hdphoto" Target="../media/hdphoto2.wdp"/><Relationship Id="rId4" Type="http://schemas.openxmlformats.org/officeDocument/2006/relationships/image" Target="../media/image16.jpe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1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160" y="1707575"/>
            <a:ext cx="3429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71800" y="3006576"/>
            <a:ext cx="6120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IDENTIDAD DE MARCA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IDENTIDAD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1772816"/>
            <a:ext cx="85324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¿Qué es?</a:t>
            </a:r>
          </a:p>
          <a:p>
            <a:r>
              <a:rPr lang="es-ES" sz="2800" b="1" dirty="0" smtClean="0">
                <a:solidFill>
                  <a:schemeClr val="bg1"/>
                </a:solidFill>
              </a:rPr>
              <a:t>Herramienta poderosa de unión y diferenciación.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¿Por qué es importante?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Conexión </a:t>
            </a:r>
            <a:r>
              <a:rPr lang="es-ES" sz="2800" b="1" dirty="0" smtClean="0">
                <a:solidFill>
                  <a:schemeClr val="bg1"/>
                </a:solidFill>
              </a:rPr>
              <a:t>emocional. Sentido </a:t>
            </a:r>
            <a:r>
              <a:rPr lang="es-ES" sz="2800" b="1" dirty="0">
                <a:solidFill>
                  <a:schemeClr val="bg1"/>
                </a:solidFill>
              </a:rPr>
              <a:t>de </a:t>
            </a:r>
            <a:r>
              <a:rPr lang="es-ES" sz="2800" b="1" dirty="0" smtClean="0">
                <a:solidFill>
                  <a:schemeClr val="bg1"/>
                </a:solidFill>
              </a:rPr>
              <a:t>pertenencia. Posicionamiento. Presencia digital. Adaptación </a:t>
            </a:r>
            <a:r>
              <a:rPr lang="es-ES" sz="2800" b="1" dirty="0">
                <a:solidFill>
                  <a:schemeClr val="bg1"/>
                </a:solidFill>
              </a:rPr>
              <a:t>y </a:t>
            </a:r>
            <a:r>
              <a:rPr lang="es-ES" sz="2800" b="1" dirty="0" smtClean="0">
                <a:solidFill>
                  <a:schemeClr val="bg1"/>
                </a:solidFill>
              </a:rPr>
              <a:t>evolución.</a:t>
            </a:r>
            <a:endParaRPr lang="es-ES" sz="2800" dirty="0">
              <a:solidFill>
                <a:schemeClr val="bg1"/>
              </a:solidFill>
            </a:endParaRPr>
          </a:p>
          <a:p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¿Cómo la materializamos?</a:t>
            </a:r>
          </a:p>
          <a:p>
            <a:r>
              <a:rPr lang="es-ES" sz="2800" b="1" dirty="0">
                <a:solidFill>
                  <a:schemeClr val="bg1"/>
                </a:solidFill>
              </a:rPr>
              <a:t>Identidad </a:t>
            </a:r>
            <a:r>
              <a:rPr lang="es-ES" sz="2800" b="1" dirty="0" smtClean="0">
                <a:solidFill>
                  <a:schemeClr val="bg1"/>
                </a:solidFill>
              </a:rPr>
              <a:t>visual. Identidad verbal. Mascota.</a:t>
            </a:r>
            <a:endParaRPr lang="es-ES" sz="2800" dirty="0">
              <a:solidFill>
                <a:schemeClr val="bg1"/>
              </a:solidFill>
            </a:endParaRPr>
          </a:p>
          <a:p>
            <a:r>
              <a:rPr lang="es-ES" sz="2800" b="1" dirty="0">
                <a:solidFill>
                  <a:schemeClr val="bg1"/>
                </a:solidFill>
              </a:rPr>
              <a:t>Historia de </a:t>
            </a:r>
            <a:r>
              <a:rPr lang="es-ES" sz="2800" b="1" dirty="0" smtClean="0">
                <a:solidFill>
                  <a:schemeClr val="bg1"/>
                </a:solidFill>
              </a:rPr>
              <a:t>marca. Merchandising.</a:t>
            </a:r>
            <a:endParaRPr lang="es-E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92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COLORES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0" t="28968" r="26487" b="18371"/>
          <a:stretch/>
        </p:blipFill>
        <p:spPr bwMode="auto">
          <a:xfrm>
            <a:off x="995066" y="1916832"/>
            <a:ext cx="7321350" cy="448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896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TEXTURAS Y PATRONES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60" y="1844824"/>
            <a:ext cx="79208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Para utilizar en soporte digital y/o impreso (no en carcelería estática ).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>
              <a:solidFill>
                <a:schemeClr val="bg1"/>
              </a:solidFill>
            </a:endParaRPr>
          </a:p>
          <a:p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s-E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528" y="2996952"/>
            <a:ext cx="8352928" cy="364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640471"/>
            <a:ext cx="1771448" cy="1771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60" y="4653136"/>
            <a:ext cx="1771448" cy="1771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140968"/>
            <a:ext cx="1771448" cy="1771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140968"/>
            <a:ext cx="1771448" cy="1771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545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TIPOGRAFIA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5714" r="20351" b="12699"/>
          <a:stretch/>
        </p:blipFill>
        <p:spPr bwMode="auto">
          <a:xfrm>
            <a:off x="740563" y="3573016"/>
            <a:ext cx="7668344" cy="279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11560" y="1844824"/>
            <a:ext cx="7920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Oswald (proporcionadas por CD).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Ejemplo: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>
              <a:solidFill>
                <a:schemeClr val="bg1"/>
              </a:solidFill>
            </a:endParaRPr>
          </a:p>
          <a:p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s-E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76" y="1052736"/>
            <a:ext cx="2275504" cy="2275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1" t="20170" r="61820" b="58807"/>
          <a:stretch/>
        </p:blipFill>
        <p:spPr bwMode="auto">
          <a:xfrm>
            <a:off x="6372200" y="1219889"/>
            <a:ext cx="2376264" cy="1941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96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REDES SOCIALES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11960" y="1965428"/>
            <a:ext cx="4680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728" y="2204864"/>
            <a:ext cx="4176464" cy="4176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11560" y="1844824"/>
            <a:ext cx="79208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Marco adaptable.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Fondo transparente.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s-E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95835">
            <a:off x="2115073" y="3463533"/>
            <a:ext cx="2403030" cy="2403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111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CARTELERIA EN CANCHAS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1844824"/>
            <a:ext cx="7920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Utilización de un solo color de fondo: </a:t>
            </a:r>
          </a:p>
          <a:p>
            <a:endParaRPr lang="es-ES" sz="2800" b="1" dirty="0" smtClean="0">
              <a:solidFill>
                <a:schemeClr val="bg1"/>
              </a:solidFill>
            </a:endParaRPr>
          </a:p>
          <a:p>
            <a:r>
              <a:rPr lang="es-ES" sz="2800" b="1" dirty="0" smtClean="0">
                <a:solidFill>
                  <a:schemeClr val="bg1"/>
                </a:solidFill>
              </a:rPr>
              <a:t>AZUL PRINCIPAL </a:t>
            </a:r>
          </a:p>
          <a:p>
            <a:r>
              <a:rPr lang="es-ES" sz="2800" b="1" dirty="0" smtClean="0">
                <a:solidFill>
                  <a:schemeClr val="bg1"/>
                </a:solidFill>
              </a:rPr>
              <a:t>R32% </a:t>
            </a:r>
          </a:p>
          <a:p>
            <a:r>
              <a:rPr lang="es-ES" sz="2800" b="1" dirty="0" smtClean="0">
                <a:solidFill>
                  <a:schemeClr val="bg1"/>
                </a:solidFill>
              </a:rPr>
              <a:t>G47% </a:t>
            </a:r>
          </a:p>
          <a:p>
            <a:r>
              <a:rPr lang="es-ES" sz="2800" b="1" dirty="0" smtClean="0">
                <a:solidFill>
                  <a:schemeClr val="bg1"/>
                </a:solidFill>
              </a:rPr>
              <a:t>B94%.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Isologo del patrocinador en banco.</a:t>
            </a:r>
          </a:p>
          <a:p>
            <a:pPr marL="457200" indent="-457200">
              <a:buFontTx/>
              <a:buChar char="-"/>
            </a:pPr>
            <a:endParaRPr lang="es-ES" sz="2800" b="1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s-E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0" t="30357" r="63634" b="20265"/>
          <a:stretch/>
        </p:blipFill>
        <p:spPr bwMode="auto">
          <a:xfrm>
            <a:off x="7070456" y="1844824"/>
            <a:ext cx="1461984" cy="3612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734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1656184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9712" y="601232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CARTELERIA EN CANCHAS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1844824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Material a utilizar: lo define cada disciplina.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Costo mínimo sugerido por mes: 2/3 cuotas de socio activo mayor.</a:t>
            </a:r>
          </a:p>
          <a:p>
            <a:endParaRPr lang="es-ES" sz="2800" b="1" dirty="0" smtClean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Simplicidad en su diseño.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Sugerencia 1: </a:t>
            </a:r>
            <a:r>
              <a:rPr lang="es-ES" sz="2800" b="1" dirty="0" err="1" smtClean="0">
                <a:solidFill>
                  <a:schemeClr val="bg1"/>
                </a:solidFill>
              </a:rPr>
              <a:t>isologo</a:t>
            </a:r>
            <a:r>
              <a:rPr lang="es-ES" sz="2800" b="1" dirty="0">
                <a:solidFill>
                  <a:schemeClr val="bg1"/>
                </a:solidFill>
              </a:rPr>
              <a:t> </a:t>
            </a:r>
            <a:r>
              <a:rPr lang="es-ES" sz="2800" b="1" dirty="0" smtClean="0">
                <a:solidFill>
                  <a:schemeClr val="bg1"/>
                </a:solidFill>
              </a:rPr>
              <a:t>+ canal de contacto.</a:t>
            </a:r>
          </a:p>
          <a:p>
            <a:pPr marL="457200" indent="-457200">
              <a:buFont typeface="Arial" pitchFamily="34" charset="0"/>
              <a:buChar char="•"/>
            </a:pPr>
            <a:endParaRPr lang="es-ES" sz="2800" b="1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s-ES" sz="2800" b="1" dirty="0" smtClean="0">
                <a:solidFill>
                  <a:schemeClr val="bg1"/>
                </a:solidFill>
              </a:rPr>
              <a:t>Sugerencia 2: </a:t>
            </a:r>
            <a:r>
              <a:rPr lang="es-ES" sz="2800" b="1" dirty="0" err="1" smtClean="0">
                <a:solidFill>
                  <a:schemeClr val="bg1"/>
                </a:solidFill>
              </a:rPr>
              <a:t>isologo</a:t>
            </a:r>
            <a:r>
              <a:rPr lang="es-ES" sz="2800" b="1" dirty="0" smtClean="0">
                <a:solidFill>
                  <a:schemeClr val="bg1"/>
                </a:solidFill>
              </a:rPr>
              <a:t> + slogan.</a:t>
            </a:r>
          </a:p>
          <a:p>
            <a:pPr marL="457200" indent="-457200">
              <a:buFontTx/>
              <a:buChar char="-"/>
            </a:pPr>
            <a:endParaRPr lang="es-ES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55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" r="851" b="23735"/>
          <a:stretch/>
        </p:blipFill>
        <p:spPr>
          <a:xfrm>
            <a:off x="5471" y="1"/>
            <a:ext cx="913852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60" y="3238243"/>
            <a:ext cx="1190359" cy="11903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0359" y="225001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smtClean="0">
                <a:solidFill>
                  <a:schemeClr val="bg1"/>
                </a:solidFill>
              </a:rPr>
              <a:t>CARTELERIA EN CANCHAS</a:t>
            </a:r>
            <a:endParaRPr lang="en-US" sz="4800" b="1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3" b="25811"/>
          <a:stretch/>
        </p:blipFill>
        <p:spPr>
          <a:xfrm>
            <a:off x="1897476" y="1239982"/>
            <a:ext cx="5570566" cy="24770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" t="17957" r="2793" b="19068"/>
          <a:stretch/>
        </p:blipFill>
        <p:spPr>
          <a:xfrm>
            <a:off x="1907704" y="3942891"/>
            <a:ext cx="5560338" cy="247250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149080"/>
            <a:ext cx="1346975" cy="4320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654" b="91922" l="5636" r="965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986282"/>
            <a:ext cx="1706816" cy="95996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1026" b="66154" l="32821" r="95385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312" y="2500312"/>
            <a:ext cx="1857375" cy="18573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65097" y="4232121"/>
            <a:ext cx="1478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 smtClean="0">
                <a:solidFill>
                  <a:schemeClr val="bg1"/>
                </a:solidFill>
                <a:latin typeface="Microsoft New Tai Lue" pitchFamily="34" charset="0"/>
                <a:cs typeface="Microsoft New Tai Lue" pitchFamily="34" charset="0"/>
              </a:rPr>
              <a:t>entrerios</a:t>
            </a:r>
            <a:endParaRPr lang="en-US" sz="1050" b="1" dirty="0">
              <a:solidFill>
                <a:schemeClr val="bg1"/>
              </a:solidFill>
              <a:latin typeface="Microsoft New Tai Lue" pitchFamily="34" charset="0"/>
              <a:cs typeface="Microsoft New Tai Lue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65097" y="4365104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smtClean="0">
                <a:solidFill>
                  <a:schemeClr val="bg1"/>
                </a:solidFill>
                <a:latin typeface="Arial Narrow" pitchFamily="34" charset="0"/>
              </a:rPr>
              <a:t>GOBIERNO</a:t>
            </a:r>
            <a:endParaRPr lang="en-US" sz="8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46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2" b="12165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87677" y="1905506"/>
            <a:ext cx="61206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 smtClean="0">
                <a:solidFill>
                  <a:schemeClr val="bg1"/>
                </a:solidFill>
              </a:rPr>
              <a:t>Gracias por tu atención</a:t>
            </a:r>
          </a:p>
          <a:p>
            <a:pPr algn="ctr"/>
            <a:endParaRPr lang="es-ES" sz="4800" b="1" dirty="0" smtClean="0">
              <a:solidFill>
                <a:schemeClr val="bg1"/>
              </a:solidFill>
            </a:endParaRPr>
          </a:p>
          <a:p>
            <a:pPr algn="ctr"/>
            <a:r>
              <a:rPr lang="es-ES" sz="4800" i="1" dirty="0" smtClean="0">
                <a:solidFill>
                  <a:schemeClr val="bg1"/>
                </a:solidFill>
              </a:rPr>
              <a:t>¡Sigamos haciendo grande nuestro club!</a:t>
            </a:r>
            <a:endParaRPr lang="en-US" sz="4800" i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6592" y="1196752"/>
            <a:ext cx="4464496" cy="4464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16642" y="6309320"/>
            <a:ext cx="1910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i="1" dirty="0" smtClean="0">
                <a:solidFill>
                  <a:schemeClr val="bg1"/>
                </a:solidFill>
              </a:rPr>
              <a:t>#</a:t>
            </a:r>
            <a:r>
              <a:rPr lang="es-ES" i="1" dirty="0" err="1" smtClean="0">
                <a:solidFill>
                  <a:schemeClr val="bg1"/>
                </a:solidFill>
              </a:rPr>
              <a:t>MiClubEsParacao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5080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181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9</cp:revision>
  <dcterms:created xsi:type="dcterms:W3CDTF">2025-11-10T15:52:27Z</dcterms:created>
  <dcterms:modified xsi:type="dcterms:W3CDTF">2025-11-10T19:16:17Z</dcterms:modified>
</cp:coreProperties>
</file>